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7" r:id="rId6"/>
    <p:sldId id="258" r:id="rId7"/>
    <p:sldId id="265" r:id="rId8"/>
    <p:sldId id="259" r:id="rId9"/>
    <p:sldId id="260" r:id="rId10"/>
    <p:sldId id="267" r:id="rId11"/>
    <p:sldId id="269" r:id="rId12"/>
    <p:sldId id="270" r:id="rId13"/>
    <p:sldId id="271" r:id="rId14"/>
    <p:sldId id="264"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384"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7460" y="611962"/>
            <a:ext cx="4404995" cy="695960"/>
          </a:xfrm>
          <a:prstGeom prst="rect">
            <a:avLst/>
          </a:prstGeom>
        </p:spPr>
        <p:txBody>
          <a:bodyPr wrap="square" lIns="0" tIns="0" rIns="0" bIns="0">
            <a:spAutoFit/>
          </a:bodyPr>
          <a:lstStyle>
            <a:lvl1pPr>
              <a:defRPr sz="260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92451" y="1250238"/>
            <a:ext cx="7019290" cy="1069975"/>
          </a:xfrm>
          <a:prstGeom prst="rect">
            <a:avLst/>
          </a:prstGeom>
        </p:spPr>
        <p:txBody>
          <a:bodyPr wrap="square" lIns="0" tIns="0" rIns="0" bIns="0">
            <a:spAutoFit/>
          </a:bodyPr>
          <a:lstStyle>
            <a:lvl1pPr>
              <a:defRPr sz="26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97992" y="2893580"/>
            <a:ext cx="8893808" cy="1248419"/>
          </a:xfrm>
          <a:prstGeom prst="rect">
            <a:avLst/>
          </a:prstGeom>
        </p:spPr>
        <p:txBody>
          <a:bodyPr vert="horz" wrap="square" lIns="0" tIns="17145" rIns="0" bIns="0" rtlCol="0">
            <a:spAutoFit/>
          </a:bodyPr>
          <a:lstStyle/>
          <a:p>
            <a:pPr marL="12700" algn="ctr">
              <a:lnSpc>
                <a:spcPct val="100000"/>
              </a:lnSpc>
              <a:spcBef>
                <a:spcPts val="135"/>
              </a:spcBef>
            </a:pPr>
            <a:r>
              <a:rPr lang="en-US" sz="4000" dirty="0"/>
              <a:t>Cognitive Load–Driven Academic Optimization Model</a:t>
            </a:r>
            <a:endParaRPr sz="4000" dirty="0">
              <a:latin typeface="Trebuchet MS"/>
              <a:cs typeface="Trebuchet MS"/>
            </a:endParaRPr>
          </a:p>
        </p:txBody>
      </p:sp>
      <p:sp>
        <p:nvSpPr>
          <p:cNvPr id="3" name="object 3"/>
          <p:cNvSpPr txBox="1"/>
          <p:nvPr/>
        </p:nvSpPr>
        <p:spPr>
          <a:xfrm>
            <a:off x="1143000" y="4877117"/>
            <a:ext cx="3095207" cy="1054776"/>
          </a:xfrm>
          <a:prstGeom prst="rect">
            <a:avLst/>
          </a:prstGeom>
        </p:spPr>
        <p:txBody>
          <a:bodyPr vert="horz" wrap="square" lIns="0" tIns="15875" rIns="0" bIns="0" rtlCol="0">
            <a:spAutoFit/>
          </a:bodyPr>
          <a:lstStyle/>
          <a:p>
            <a:pPr marL="1905" algn="ctr">
              <a:lnSpc>
                <a:spcPts val="2710"/>
              </a:lnSpc>
              <a:spcBef>
                <a:spcPts val="125"/>
              </a:spcBef>
            </a:pPr>
            <a:r>
              <a:rPr sz="2350" spc="-10" dirty="0">
                <a:latin typeface="Trebuchet MS"/>
                <a:cs typeface="Trebuchet MS"/>
              </a:rPr>
              <a:t>Submitted</a:t>
            </a:r>
            <a:r>
              <a:rPr sz="2350" spc="-190" dirty="0">
                <a:latin typeface="Trebuchet MS"/>
                <a:cs typeface="Trebuchet MS"/>
              </a:rPr>
              <a:t> </a:t>
            </a:r>
            <a:r>
              <a:rPr sz="2350" spc="-25" dirty="0">
                <a:latin typeface="Trebuchet MS"/>
                <a:cs typeface="Trebuchet MS"/>
              </a:rPr>
              <a:t>By:</a:t>
            </a:r>
            <a:endParaRPr sz="2350" dirty="0">
              <a:latin typeface="Trebuchet MS"/>
              <a:cs typeface="Trebuchet MS"/>
            </a:endParaRPr>
          </a:p>
          <a:p>
            <a:pPr marL="1270" algn="ctr">
              <a:lnSpc>
                <a:spcPts val="2710"/>
              </a:lnSpc>
            </a:pPr>
            <a:r>
              <a:rPr lang="en-US" sz="2350" spc="-10" dirty="0">
                <a:latin typeface="Trebuchet MS"/>
                <a:cs typeface="Trebuchet MS"/>
              </a:rPr>
              <a:t>Kritika Mittal</a:t>
            </a:r>
          </a:p>
          <a:p>
            <a:pPr marL="1270" algn="ctr">
              <a:lnSpc>
                <a:spcPts val="2710"/>
              </a:lnSpc>
            </a:pPr>
            <a:r>
              <a:rPr lang="en-US" sz="2350" spc="-40" dirty="0">
                <a:latin typeface="Trebuchet MS"/>
                <a:cs typeface="Trebuchet MS"/>
              </a:rPr>
              <a:t>2427030135</a:t>
            </a:r>
            <a:endParaRPr sz="2350" dirty="0">
              <a:latin typeface="Trebuchet MS"/>
              <a:cs typeface="Trebuchet MS"/>
            </a:endParaRPr>
          </a:p>
        </p:txBody>
      </p:sp>
      <p:sp>
        <p:nvSpPr>
          <p:cNvPr id="4" name="object 4"/>
          <p:cNvSpPr txBox="1"/>
          <p:nvPr/>
        </p:nvSpPr>
        <p:spPr>
          <a:xfrm>
            <a:off x="8497569" y="4869560"/>
            <a:ext cx="2703831" cy="709168"/>
          </a:xfrm>
          <a:prstGeom prst="rect">
            <a:avLst/>
          </a:prstGeom>
        </p:spPr>
        <p:txBody>
          <a:bodyPr vert="horz" wrap="square" lIns="0" tIns="16510" rIns="0" bIns="0" rtlCol="0">
            <a:spAutoFit/>
          </a:bodyPr>
          <a:lstStyle/>
          <a:p>
            <a:pPr marL="31115">
              <a:lnSpc>
                <a:spcPts val="2710"/>
              </a:lnSpc>
              <a:spcBef>
                <a:spcPts val="130"/>
              </a:spcBef>
            </a:pPr>
            <a:r>
              <a:rPr sz="2350" dirty="0">
                <a:latin typeface="Trebuchet MS"/>
                <a:cs typeface="Trebuchet MS"/>
              </a:rPr>
              <a:t>Supervised</a:t>
            </a:r>
            <a:r>
              <a:rPr sz="2350" spc="15" dirty="0">
                <a:latin typeface="Trebuchet MS"/>
                <a:cs typeface="Trebuchet MS"/>
              </a:rPr>
              <a:t> </a:t>
            </a:r>
            <a:r>
              <a:rPr sz="2350" spc="-25" dirty="0">
                <a:latin typeface="Trebuchet MS"/>
                <a:cs typeface="Trebuchet MS"/>
              </a:rPr>
              <a:t>By:</a:t>
            </a:r>
            <a:endParaRPr sz="2350" dirty="0">
              <a:latin typeface="Trebuchet MS"/>
              <a:cs typeface="Trebuchet MS"/>
            </a:endParaRPr>
          </a:p>
          <a:p>
            <a:pPr marL="12700">
              <a:lnSpc>
                <a:spcPts val="2710"/>
              </a:lnSpc>
            </a:pPr>
            <a:r>
              <a:rPr lang="en-US" sz="2350" dirty="0">
                <a:latin typeface="Trebuchet MS"/>
                <a:cs typeface="Trebuchet MS"/>
              </a:rPr>
              <a:t>Mr. Mayank Namdev</a:t>
            </a:r>
            <a:endParaRPr sz="2350" dirty="0">
              <a:latin typeface="Trebuchet MS"/>
              <a:cs typeface="Trebuchet MS"/>
            </a:endParaRPr>
          </a:p>
        </p:txBody>
      </p:sp>
      <p:pic>
        <p:nvPicPr>
          <p:cNvPr id="5" name="object 5"/>
          <p:cNvPicPr/>
          <p:nvPr/>
        </p:nvPicPr>
        <p:blipFill>
          <a:blip r:embed="rId2" cstate="print"/>
          <a:stretch>
            <a:fillRect/>
          </a:stretch>
        </p:blipFill>
        <p:spPr>
          <a:xfrm>
            <a:off x="169239" y="169146"/>
            <a:ext cx="4068969" cy="1033529"/>
          </a:xfrm>
          <a:prstGeom prst="rect">
            <a:avLst/>
          </a:prstGeom>
        </p:spPr>
      </p:pic>
      <p:sp>
        <p:nvSpPr>
          <p:cNvPr id="6" name="object 6"/>
          <p:cNvSpPr txBox="1">
            <a:spLocks noGrp="1"/>
          </p:cNvSpPr>
          <p:nvPr>
            <p:ph type="title"/>
          </p:nvPr>
        </p:nvSpPr>
        <p:spPr>
          <a:prstGeom prst="rect">
            <a:avLst/>
          </a:prstGeom>
        </p:spPr>
        <p:txBody>
          <a:bodyPr vert="horz" wrap="square" lIns="0" tIns="12700" rIns="0" bIns="0" rtlCol="0">
            <a:spAutoFit/>
          </a:bodyPr>
          <a:lstStyle/>
          <a:p>
            <a:pPr marL="12700" marR="5080" indent="361315">
              <a:lnSpc>
                <a:spcPct val="131800"/>
              </a:lnSpc>
              <a:spcBef>
                <a:spcPts val="100"/>
              </a:spcBef>
            </a:pPr>
            <a:r>
              <a:rPr spc="-45" dirty="0"/>
              <a:t>School</a:t>
            </a:r>
            <a:r>
              <a:rPr spc="-250" dirty="0"/>
              <a:t> </a:t>
            </a:r>
            <a:r>
              <a:rPr spc="-130" dirty="0"/>
              <a:t>of</a:t>
            </a:r>
            <a:r>
              <a:rPr spc="-285" dirty="0"/>
              <a:t> </a:t>
            </a:r>
            <a:r>
              <a:rPr spc="-114" dirty="0"/>
              <a:t>Computer</a:t>
            </a:r>
            <a:r>
              <a:rPr spc="-275" dirty="0"/>
              <a:t> </a:t>
            </a:r>
            <a:r>
              <a:rPr spc="-80" dirty="0"/>
              <a:t>Science</a:t>
            </a:r>
            <a:r>
              <a:rPr spc="-210" dirty="0"/>
              <a:t> </a:t>
            </a:r>
            <a:r>
              <a:rPr spc="-135" dirty="0"/>
              <a:t>and</a:t>
            </a:r>
            <a:r>
              <a:rPr spc="-210" dirty="0"/>
              <a:t> </a:t>
            </a:r>
            <a:r>
              <a:rPr spc="-50" dirty="0"/>
              <a:t>Engineering </a:t>
            </a:r>
            <a:r>
              <a:rPr spc="-125" dirty="0"/>
              <a:t>Department</a:t>
            </a:r>
            <a:r>
              <a:rPr spc="-320" dirty="0"/>
              <a:t> </a:t>
            </a:r>
            <a:r>
              <a:rPr spc="-100" dirty="0"/>
              <a:t>of</a:t>
            </a:r>
            <a:r>
              <a:rPr spc="-275" dirty="0"/>
              <a:t> </a:t>
            </a:r>
            <a:r>
              <a:rPr spc="-114" dirty="0"/>
              <a:t>Computer</a:t>
            </a:r>
            <a:r>
              <a:rPr spc="-265" dirty="0"/>
              <a:t> </a:t>
            </a:r>
            <a:r>
              <a:rPr spc="-80" dirty="0"/>
              <a:t>Science</a:t>
            </a:r>
            <a:r>
              <a:rPr spc="-204" dirty="0"/>
              <a:t> </a:t>
            </a:r>
            <a:r>
              <a:rPr spc="-135" dirty="0"/>
              <a:t>and</a:t>
            </a:r>
            <a:r>
              <a:rPr spc="-210" dirty="0"/>
              <a:t> </a:t>
            </a:r>
            <a:r>
              <a:rPr spc="-125" dirty="0"/>
              <a:t>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7460" y="611962"/>
            <a:ext cx="1680210" cy="695960"/>
          </a:xfrm>
          <a:prstGeom prst="rect">
            <a:avLst/>
          </a:prstGeom>
        </p:spPr>
        <p:txBody>
          <a:bodyPr vert="horz" wrap="square" lIns="0" tIns="12700" rIns="0" bIns="0" rtlCol="0">
            <a:spAutoFit/>
          </a:bodyPr>
          <a:lstStyle/>
          <a:p>
            <a:pPr marL="12700">
              <a:lnSpc>
                <a:spcPct val="100000"/>
              </a:lnSpc>
              <a:spcBef>
                <a:spcPts val="100"/>
              </a:spcBef>
            </a:pPr>
            <a:r>
              <a:rPr sz="4400" b="0" spc="-204" dirty="0">
                <a:latin typeface="Trebuchet MS"/>
                <a:cs typeface="Trebuchet MS"/>
              </a:rPr>
              <a:t>Outline</a:t>
            </a:r>
            <a:endParaRPr sz="4400">
              <a:latin typeface="Trebuchet MS"/>
              <a:cs typeface="Trebuchet MS"/>
            </a:endParaRPr>
          </a:p>
        </p:txBody>
      </p:sp>
      <p:sp>
        <p:nvSpPr>
          <p:cNvPr id="3" name="object 3"/>
          <p:cNvSpPr txBox="1"/>
          <p:nvPr/>
        </p:nvSpPr>
        <p:spPr>
          <a:xfrm>
            <a:off x="917460" y="1722577"/>
            <a:ext cx="4111740" cy="3111108"/>
          </a:xfrm>
          <a:prstGeom prst="rect">
            <a:avLst/>
          </a:prstGeom>
        </p:spPr>
        <p:txBody>
          <a:bodyPr vert="horz" wrap="square" lIns="0" tIns="88900" rIns="0" bIns="0" rtlCol="0">
            <a:spAutoFit/>
          </a:bodyPr>
          <a:lstStyle/>
          <a:p>
            <a:pPr marL="329565" indent="-317500">
              <a:lnSpc>
                <a:spcPct val="100000"/>
              </a:lnSpc>
              <a:spcBef>
                <a:spcPts val="700"/>
              </a:spcBef>
              <a:buSzPct val="96428"/>
              <a:buFont typeface="Wingdings"/>
              <a:buChar char=""/>
              <a:tabLst>
                <a:tab pos="329565" algn="l"/>
              </a:tabLst>
            </a:pPr>
            <a:r>
              <a:rPr sz="2800" spc="-10" dirty="0">
                <a:latin typeface="Trebuchet MS"/>
                <a:cs typeface="Trebuchet MS"/>
              </a:rPr>
              <a:t>Introduction</a:t>
            </a:r>
            <a:endParaRPr sz="2800" dirty="0">
              <a:latin typeface="Trebuchet MS"/>
              <a:cs typeface="Trebuchet MS"/>
            </a:endParaRPr>
          </a:p>
          <a:p>
            <a:pPr marL="329565" indent="-317500">
              <a:lnSpc>
                <a:spcPct val="100000"/>
              </a:lnSpc>
              <a:spcBef>
                <a:spcPts val="605"/>
              </a:spcBef>
              <a:buSzPct val="96428"/>
              <a:buFont typeface="Wingdings"/>
              <a:buChar char=""/>
              <a:tabLst>
                <a:tab pos="329565" algn="l"/>
              </a:tabLst>
            </a:pPr>
            <a:r>
              <a:rPr sz="2800" spc="-125" dirty="0">
                <a:latin typeface="Trebuchet MS"/>
                <a:cs typeface="Trebuchet MS"/>
              </a:rPr>
              <a:t>Literature</a:t>
            </a:r>
            <a:r>
              <a:rPr sz="2800" spc="-155" dirty="0">
                <a:latin typeface="Trebuchet MS"/>
                <a:cs typeface="Trebuchet MS"/>
              </a:rPr>
              <a:t> </a:t>
            </a:r>
            <a:r>
              <a:rPr sz="2800" spc="-10" dirty="0">
                <a:latin typeface="Trebuchet MS"/>
                <a:cs typeface="Trebuchet MS"/>
              </a:rPr>
              <a:t>Review</a:t>
            </a:r>
            <a:endParaRPr sz="2800" dirty="0">
              <a:latin typeface="Trebuchet MS"/>
              <a:cs typeface="Trebuchet MS"/>
            </a:endParaRPr>
          </a:p>
          <a:p>
            <a:pPr marL="329565" indent="-317500">
              <a:lnSpc>
                <a:spcPct val="100000"/>
              </a:lnSpc>
              <a:spcBef>
                <a:spcPts val="680"/>
              </a:spcBef>
              <a:buSzPct val="96428"/>
              <a:buFont typeface="Wingdings"/>
              <a:buChar char=""/>
              <a:tabLst>
                <a:tab pos="329565" algn="l"/>
              </a:tabLst>
            </a:pPr>
            <a:r>
              <a:rPr sz="2800" spc="-45" dirty="0">
                <a:latin typeface="Trebuchet MS"/>
                <a:cs typeface="Trebuchet MS"/>
              </a:rPr>
              <a:t>Problem</a:t>
            </a:r>
            <a:r>
              <a:rPr sz="2800" spc="-185" dirty="0">
                <a:latin typeface="Trebuchet MS"/>
                <a:cs typeface="Trebuchet MS"/>
              </a:rPr>
              <a:t> </a:t>
            </a:r>
            <a:r>
              <a:rPr sz="2800" spc="-45" dirty="0">
                <a:latin typeface="Trebuchet MS"/>
                <a:cs typeface="Trebuchet MS"/>
              </a:rPr>
              <a:t>Statement</a:t>
            </a:r>
            <a:endParaRPr sz="2800" dirty="0">
              <a:latin typeface="Trebuchet MS"/>
              <a:cs typeface="Trebuchet MS"/>
            </a:endParaRPr>
          </a:p>
          <a:p>
            <a:pPr marL="329565" indent="-317500">
              <a:lnSpc>
                <a:spcPct val="100000"/>
              </a:lnSpc>
              <a:spcBef>
                <a:spcPts val="680"/>
              </a:spcBef>
              <a:buSzPct val="96428"/>
              <a:buFont typeface="Wingdings"/>
              <a:buChar char=""/>
              <a:tabLst>
                <a:tab pos="329565" algn="l"/>
              </a:tabLst>
            </a:pPr>
            <a:r>
              <a:rPr sz="2800" dirty="0">
                <a:latin typeface="Trebuchet MS"/>
                <a:cs typeface="Trebuchet MS"/>
              </a:rPr>
              <a:t>Proposed</a:t>
            </a:r>
            <a:r>
              <a:rPr sz="2800" spc="-190" dirty="0">
                <a:latin typeface="Trebuchet MS"/>
                <a:cs typeface="Trebuchet MS"/>
              </a:rPr>
              <a:t> </a:t>
            </a:r>
            <a:r>
              <a:rPr sz="2800" spc="-10" dirty="0">
                <a:latin typeface="Trebuchet MS"/>
                <a:cs typeface="Trebuchet MS"/>
              </a:rPr>
              <a:t>Solution</a:t>
            </a:r>
            <a:endParaRPr sz="2800" dirty="0">
              <a:latin typeface="Trebuchet MS"/>
              <a:cs typeface="Trebuchet MS"/>
            </a:endParaRPr>
          </a:p>
          <a:p>
            <a:pPr marL="329565" indent="-317500">
              <a:lnSpc>
                <a:spcPct val="100000"/>
              </a:lnSpc>
              <a:spcBef>
                <a:spcPts val="675"/>
              </a:spcBef>
              <a:buSzPct val="96428"/>
              <a:buFont typeface="Wingdings"/>
              <a:buChar char=""/>
              <a:tabLst>
                <a:tab pos="329565" algn="l"/>
              </a:tabLst>
            </a:pPr>
            <a:r>
              <a:rPr sz="2800" spc="-10" dirty="0">
                <a:latin typeface="Trebuchet MS"/>
                <a:cs typeface="Trebuchet MS"/>
              </a:rPr>
              <a:t>Objectives</a:t>
            </a:r>
            <a:endParaRPr lang="en-US" sz="2800" spc="-10" dirty="0">
              <a:latin typeface="Trebuchet MS"/>
              <a:cs typeface="Trebuchet MS"/>
            </a:endParaRPr>
          </a:p>
          <a:p>
            <a:pPr marL="329565" indent="-317500">
              <a:lnSpc>
                <a:spcPct val="100000"/>
              </a:lnSpc>
              <a:spcBef>
                <a:spcPts val="675"/>
              </a:spcBef>
              <a:buSzPct val="96428"/>
              <a:buFont typeface="Wingdings"/>
              <a:buChar char=""/>
              <a:tabLst>
                <a:tab pos="329565" algn="l"/>
              </a:tabLst>
            </a:pPr>
            <a:r>
              <a:rPr lang="en-IN" sz="2800" spc="-10" dirty="0">
                <a:latin typeface="Trebuchet MS"/>
                <a:cs typeface="Trebuchet MS"/>
              </a:rPr>
              <a:t>Proposed Methodology</a:t>
            </a:r>
            <a:endParaRPr sz="2800" dirty="0">
              <a:latin typeface="Trebuchet MS"/>
              <a:cs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4400" b="0" spc="-225" dirty="0">
                <a:latin typeface="Trebuchet MS"/>
                <a:cs typeface="Trebuchet MS"/>
              </a:rPr>
              <a:t>Introduction</a:t>
            </a:r>
            <a:endParaRPr sz="4400">
              <a:latin typeface="Trebuchet MS"/>
              <a:cs typeface="Trebuchet MS"/>
            </a:endParaRPr>
          </a:p>
        </p:txBody>
      </p:sp>
      <p:sp>
        <p:nvSpPr>
          <p:cNvPr id="3" name="object 3"/>
          <p:cNvSpPr txBox="1"/>
          <p:nvPr/>
        </p:nvSpPr>
        <p:spPr>
          <a:xfrm>
            <a:off x="990600" y="2057400"/>
            <a:ext cx="10360140" cy="2168542"/>
          </a:xfrm>
          <a:prstGeom prst="rect">
            <a:avLst/>
          </a:prstGeom>
        </p:spPr>
        <p:txBody>
          <a:bodyPr vert="horz" wrap="square" lIns="0" tIns="13970" rIns="0" bIns="0" rtlCol="0">
            <a:spAutoFit/>
          </a:bodyPr>
          <a:lstStyle/>
          <a:p>
            <a:r>
              <a:rPr lang="en-US" sz="2000" dirty="0"/>
              <a:t>Academic performance is influenced by multiple factors such as study habits, learning consistency, mental workload, and engagement patterns. Traditional academic analytics systems mainly focus on predicting marks using parameters like attendance and total study hours. However, students with similar study hours often demonstrate different learning outcomes, indicating that </a:t>
            </a:r>
            <a:r>
              <a:rPr lang="en-US" sz="2000" b="1" dirty="0"/>
              <a:t>cognitive effort and study efficiency play a critical role</a:t>
            </a:r>
            <a:r>
              <a:rPr lang="en-US" sz="2000" dirty="0"/>
              <a:t>.</a:t>
            </a:r>
          </a:p>
          <a:p>
            <a:endParaRPr lang="en-US" sz="2000" dirty="0"/>
          </a:p>
          <a:p>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C06394-734C-7E24-065D-B4FDF248499E}"/>
              </a:ext>
            </a:extLst>
          </p:cNvPr>
          <p:cNvSpPr>
            <a:spLocks noGrp="1"/>
          </p:cNvSpPr>
          <p:nvPr>
            <p:ph type="body" idx="1"/>
          </p:nvPr>
        </p:nvSpPr>
        <p:spPr>
          <a:xfrm>
            <a:off x="609600" y="1577340"/>
            <a:ext cx="10972800" cy="2769989"/>
          </a:xfrm>
        </p:spPr>
        <p:txBody>
          <a:bodyPr/>
          <a:lstStyle/>
          <a:p>
            <a:r>
              <a:rPr lang="en-US" sz="2000" b="1" dirty="0"/>
              <a:t>Cognitive Load Theory </a:t>
            </a:r>
            <a:r>
              <a:rPr lang="en-US" sz="2000" dirty="0"/>
              <a:t>suggests that learning effectiveness depends on how much mental effort a learner can handle during a study session. Excessive cognitive load reduces concentration, memory retention, and understanding. Therefore, measuring cognitive load using interaction metrics such as pause duration, click frequency, and task switching can provide deeper insights into students’ learning behavior.</a:t>
            </a:r>
          </a:p>
          <a:p>
            <a:endParaRPr lang="en-US" sz="2000" dirty="0"/>
          </a:p>
          <a:p>
            <a:r>
              <a:rPr lang="en-US" sz="2000" dirty="0"/>
              <a:t>This project proposes an </a:t>
            </a:r>
            <a:r>
              <a:rPr lang="en-US" sz="2000" b="1" dirty="0"/>
              <a:t>ML-driven analytical framework</a:t>
            </a:r>
            <a:r>
              <a:rPr lang="en-US" sz="2000" dirty="0"/>
              <a:t> that integrates </a:t>
            </a:r>
            <a:r>
              <a:rPr lang="en-US" sz="2000" b="1" dirty="0"/>
              <a:t>study behavior analysis and cognitive load estimation using machine learning</a:t>
            </a:r>
            <a:r>
              <a:rPr lang="en-US" sz="2000" dirty="0"/>
              <a:t> to identify key factors affecting academic performance and generate personalized learning recommendations.</a:t>
            </a:r>
          </a:p>
          <a:p>
            <a:endParaRPr lang="en-IN" sz="2000" dirty="0"/>
          </a:p>
        </p:txBody>
      </p:sp>
    </p:spTree>
    <p:extLst>
      <p:ext uri="{BB962C8B-B14F-4D97-AF65-F5344CB8AC3E}">
        <p14:creationId xmlns:p14="http://schemas.microsoft.com/office/powerpoint/2010/main" val="28429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7460" y="611962"/>
            <a:ext cx="3930015" cy="695960"/>
          </a:xfrm>
          <a:prstGeom prst="rect">
            <a:avLst/>
          </a:prstGeom>
        </p:spPr>
        <p:txBody>
          <a:bodyPr vert="horz" wrap="square" lIns="0" tIns="12700" rIns="0" bIns="0" rtlCol="0">
            <a:spAutoFit/>
          </a:bodyPr>
          <a:lstStyle/>
          <a:p>
            <a:pPr marL="12700">
              <a:lnSpc>
                <a:spcPct val="100000"/>
              </a:lnSpc>
              <a:spcBef>
                <a:spcPts val="100"/>
              </a:spcBef>
            </a:pPr>
            <a:r>
              <a:rPr sz="4400" spc="-310" dirty="0">
                <a:latin typeface="Trebuchet MS"/>
                <a:cs typeface="Trebuchet MS"/>
              </a:rPr>
              <a:t>Literature</a:t>
            </a:r>
            <a:r>
              <a:rPr sz="4400" spc="-459" dirty="0">
                <a:latin typeface="Trebuchet MS"/>
                <a:cs typeface="Trebuchet MS"/>
              </a:rPr>
              <a:t> </a:t>
            </a:r>
            <a:r>
              <a:rPr sz="4400" spc="-160" dirty="0">
                <a:latin typeface="Trebuchet MS"/>
                <a:cs typeface="Trebuchet MS"/>
              </a:rPr>
              <a:t>Review</a:t>
            </a:r>
            <a:endParaRPr sz="4400">
              <a:latin typeface="Trebuchet MS"/>
              <a:cs typeface="Trebuchet MS"/>
            </a:endParaRPr>
          </a:p>
        </p:txBody>
      </p:sp>
      <p:sp>
        <p:nvSpPr>
          <p:cNvPr id="3" name="object 3"/>
          <p:cNvSpPr txBox="1"/>
          <p:nvPr/>
        </p:nvSpPr>
        <p:spPr>
          <a:xfrm>
            <a:off x="917460" y="1797430"/>
            <a:ext cx="10055340" cy="3338093"/>
          </a:xfrm>
          <a:prstGeom prst="rect">
            <a:avLst/>
          </a:prstGeom>
        </p:spPr>
        <p:txBody>
          <a:bodyPr vert="horz" wrap="square" lIns="0" tIns="13970" rIns="0" bIns="0" rtlCol="0">
            <a:spAutoFit/>
          </a:bodyPr>
          <a:lstStyle/>
          <a:p>
            <a:r>
              <a:rPr lang="en-US" dirty="0"/>
              <a:t>Recent studies in </a:t>
            </a:r>
            <a:r>
              <a:rPr lang="en-US" b="1" dirty="0"/>
              <a:t>Learning Analytics and Educational Data Mining</a:t>
            </a:r>
            <a:r>
              <a:rPr lang="en-US" dirty="0"/>
              <a:t> have explored the use of behavioral metrics such as attendance, time spent, and engagement levels for academic performance prediction.</a:t>
            </a:r>
          </a:p>
          <a:p>
            <a:endParaRPr lang="en-US" dirty="0"/>
          </a:p>
          <a:p>
            <a:r>
              <a:rPr lang="en-US" dirty="0"/>
              <a:t>Parallel research in </a:t>
            </a:r>
            <a:r>
              <a:rPr lang="en-US" b="1" dirty="0"/>
              <a:t>cognitive load estimation</a:t>
            </a:r>
            <a:r>
              <a:rPr lang="en-US" dirty="0"/>
              <a:t> employs interaction metrics such as click rates, pause durations, eye tracking, etc. using machine learning classifiers including Random Forest and SVM. However, most existing works focus on either performance prediction or cognitive load assessment separately.</a:t>
            </a:r>
          </a:p>
          <a:p>
            <a:endParaRPr lang="en-US" dirty="0"/>
          </a:p>
          <a:p>
            <a:r>
              <a:rPr lang="en-US" dirty="0"/>
              <a:t>Very limited research integrates </a:t>
            </a:r>
            <a:r>
              <a:rPr lang="en-US" b="1" dirty="0"/>
              <a:t>both cognitive load estimation and study behavior analysis</a:t>
            </a:r>
            <a:r>
              <a:rPr lang="en-US" dirty="0"/>
              <a:t> into a unified framework for improving learning efficiency, which forms the core research gap addressed by this project.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4400" b="0" spc="-204" dirty="0">
                <a:latin typeface="Trebuchet MS"/>
                <a:cs typeface="Trebuchet MS"/>
              </a:rPr>
              <a:t>Problem</a:t>
            </a:r>
            <a:r>
              <a:rPr sz="4400" b="0" spc="-470" dirty="0">
                <a:latin typeface="Trebuchet MS"/>
                <a:cs typeface="Trebuchet MS"/>
              </a:rPr>
              <a:t> </a:t>
            </a:r>
            <a:r>
              <a:rPr sz="4400" b="0" spc="-200" dirty="0">
                <a:latin typeface="Trebuchet MS"/>
                <a:cs typeface="Trebuchet MS"/>
              </a:rPr>
              <a:t>Statement</a:t>
            </a:r>
            <a:endParaRPr sz="4400">
              <a:latin typeface="Trebuchet MS"/>
              <a:cs typeface="Trebuchet MS"/>
            </a:endParaRPr>
          </a:p>
        </p:txBody>
      </p:sp>
      <p:sp>
        <p:nvSpPr>
          <p:cNvPr id="3" name="object 3"/>
          <p:cNvSpPr txBox="1"/>
          <p:nvPr/>
        </p:nvSpPr>
        <p:spPr>
          <a:xfrm>
            <a:off x="917460" y="1797430"/>
            <a:ext cx="10207740" cy="3615092"/>
          </a:xfrm>
          <a:prstGeom prst="rect">
            <a:avLst/>
          </a:prstGeom>
        </p:spPr>
        <p:txBody>
          <a:bodyPr vert="horz" wrap="square" lIns="0" tIns="13970" rIns="0" bIns="0" rtlCol="0">
            <a:spAutoFit/>
          </a:bodyPr>
          <a:lstStyle/>
          <a:p>
            <a:r>
              <a:rPr lang="en-US" dirty="0"/>
              <a:t>Most existing academic systems focus solely on predicting student marks based on attendance, assignments, and study hours. These approaches fail to explain </a:t>
            </a:r>
            <a:r>
              <a:rPr lang="en-US" b="1" dirty="0"/>
              <a:t>why students with similar effort levels achieve different outcomes</a:t>
            </a:r>
            <a:r>
              <a:rPr lang="en-US" dirty="0"/>
              <a:t>.</a:t>
            </a:r>
          </a:p>
          <a:p>
            <a:endParaRPr lang="en-US" dirty="0"/>
          </a:p>
          <a:p>
            <a:r>
              <a:rPr lang="en-US" dirty="0"/>
              <a:t>Additionally, cognitive load estimation and study pattern analysis are usually treated as </a:t>
            </a:r>
            <a:r>
              <a:rPr lang="en-US" b="1" dirty="0"/>
              <a:t>independent research problems</a:t>
            </a:r>
            <a:r>
              <a:rPr lang="en-US" dirty="0"/>
              <a:t>, resulting in limited understanding of their combined influence on academic performance.</a:t>
            </a:r>
          </a:p>
          <a:p>
            <a:endParaRPr lang="en-US" dirty="0"/>
          </a:p>
          <a:p>
            <a:r>
              <a:rPr lang="en-US" dirty="0"/>
              <a:t>Hence, there is a need for an </a:t>
            </a:r>
            <a:r>
              <a:rPr lang="en-US" b="1" dirty="0"/>
              <a:t>integrated intelligent system</a:t>
            </a:r>
            <a:r>
              <a:rPr lang="en-US" dirty="0"/>
              <a:t> that:</a:t>
            </a:r>
          </a:p>
          <a:p>
            <a:pPr marL="342900" indent="-342900">
              <a:buFont typeface="Arial" panose="020B0604020202020204" pitchFamily="34" charset="0"/>
              <a:buChar char="•"/>
            </a:pPr>
            <a:r>
              <a:rPr lang="en-US" dirty="0"/>
              <a:t>Analyzes study behavior</a:t>
            </a:r>
          </a:p>
          <a:p>
            <a:pPr marL="342900" indent="-342900">
              <a:buFont typeface="Arial" panose="020B0604020202020204" pitchFamily="34" charset="0"/>
              <a:buChar char="•"/>
            </a:pPr>
            <a:r>
              <a:rPr lang="en-US" dirty="0"/>
              <a:t>Estimates cognitive load using interaction data</a:t>
            </a:r>
          </a:p>
          <a:p>
            <a:pPr marL="342900" indent="-342900">
              <a:buFont typeface="Arial" panose="020B0604020202020204" pitchFamily="34" charset="0"/>
              <a:buChar char="•"/>
            </a:pPr>
            <a:r>
              <a:rPr lang="en-US" dirty="0"/>
              <a:t>Correlates both with academic performance</a:t>
            </a:r>
          </a:p>
          <a:p>
            <a:pPr marL="342900" indent="-342900">
              <a:buFont typeface="Arial" panose="020B0604020202020204" pitchFamily="34" charset="0"/>
              <a:buChar char="•"/>
            </a:pPr>
            <a:r>
              <a:rPr lang="en-US" dirty="0"/>
              <a:t>Provides personalized recommendations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34C889-EA11-4E40-42CB-79AB81C0213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41DF05D-061A-8C4C-47F7-D0306A31AD64}"/>
              </a:ext>
            </a:extLst>
          </p:cNvPr>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lang="en-US" sz="4400" b="0" spc="-204" dirty="0">
                <a:latin typeface="Trebuchet MS"/>
                <a:cs typeface="Trebuchet MS"/>
              </a:rPr>
              <a:t>Objectives</a:t>
            </a:r>
            <a:endParaRPr sz="4400" dirty="0">
              <a:latin typeface="Trebuchet MS"/>
              <a:cs typeface="Trebuchet MS"/>
            </a:endParaRPr>
          </a:p>
        </p:txBody>
      </p:sp>
      <p:sp>
        <p:nvSpPr>
          <p:cNvPr id="3" name="object 3">
            <a:extLst>
              <a:ext uri="{FF2B5EF4-FFF2-40B4-BE49-F238E27FC236}">
                <a16:creationId xmlns:a16="http://schemas.microsoft.com/office/drawing/2014/main" id="{2693555D-DAEB-1FFE-F428-E6F6069F360A}"/>
              </a:ext>
            </a:extLst>
          </p:cNvPr>
          <p:cNvSpPr txBox="1"/>
          <p:nvPr/>
        </p:nvSpPr>
        <p:spPr>
          <a:xfrm>
            <a:off x="917460" y="1797430"/>
            <a:ext cx="10207740" cy="1399101"/>
          </a:xfrm>
          <a:prstGeom prst="rect">
            <a:avLst/>
          </a:prstGeom>
        </p:spPr>
        <p:txBody>
          <a:bodyPr vert="horz" wrap="square" lIns="0" tIns="13970" rIns="0" bIns="0" rtlCol="0">
            <a:spAutoFit/>
          </a:bodyPr>
          <a:lstStyle/>
          <a:p>
            <a:pPr marL="285750" indent="-285750">
              <a:buFont typeface="Arial" panose="020B0604020202020204" pitchFamily="34" charset="0"/>
              <a:buChar char="•"/>
            </a:pPr>
            <a:r>
              <a:rPr lang="en-US" dirty="0"/>
              <a:t>To analyze student study behavior and learning patterns using data-driven techniques.</a:t>
            </a:r>
          </a:p>
          <a:p>
            <a:pPr marL="285750" indent="-285750">
              <a:buFont typeface="Arial" panose="020B0604020202020204" pitchFamily="34" charset="0"/>
              <a:buChar char="•"/>
            </a:pPr>
            <a:r>
              <a:rPr lang="en-US" dirty="0"/>
              <a:t>To estimate cognitive load from interaction metrics using machine learning models.</a:t>
            </a:r>
          </a:p>
          <a:p>
            <a:pPr marL="285750" indent="-285750">
              <a:buFont typeface="Arial" panose="020B0604020202020204" pitchFamily="34" charset="0"/>
              <a:buChar char="•"/>
            </a:pPr>
            <a:r>
              <a:rPr lang="en-US" dirty="0"/>
              <a:t>To identify the impact of cognitive load and study habits on academic performance.</a:t>
            </a:r>
          </a:p>
          <a:p>
            <a:pPr marL="285750" indent="-285750">
              <a:buFont typeface="Arial" panose="020B0604020202020204" pitchFamily="34" charset="0"/>
              <a:buChar char="•"/>
            </a:pPr>
            <a:r>
              <a:rPr lang="en-US" dirty="0"/>
              <a:t>To generate intelligent, personalized learning recommendations to improve study efficiency and outcomes.</a:t>
            </a:r>
          </a:p>
        </p:txBody>
      </p:sp>
    </p:spTree>
    <p:extLst>
      <p:ext uri="{BB962C8B-B14F-4D97-AF65-F5344CB8AC3E}">
        <p14:creationId xmlns:p14="http://schemas.microsoft.com/office/powerpoint/2010/main" val="3185544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6171263-A71E-99C0-4EAB-8F47FE7E4AD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B22AE76-0B18-A68D-480C-EBA8EF2DD9AF}"/>
              </a:ext>
            </a:extLst>
          </p:cNvPr>
          <p:cNvSpPr txBox="1">
            <a:spLocks noGrp="1"/>
          </p:cNvSpPr>
          <p:nvPr>
            <p:ph type="ctrTitle"/>
          </p:nvPr>
        </p:nvSpPr>
        <p:spPr>
          <a:xfrm>
            <a:off x="917460" y="611962"/>
            <a:ext cx="5178540" cy="689932"/>
          </a:xfrm>
          <a:prstGeom prst="rect">
            <a:avLst/>
          </a:prstGeom>
        </p:spPr>
        <p:txBody>
          <a:bodyPr vert="horz" wrap="square" lIns="0" tIns="12700" rIns="0" bIns="0" rtlCol="0">
            <a:spAutoFit/>
          </a:bodyPr>
          <a:lstStyle/>
          <a:p>
            <a:pPr marL="12700">
              <a:lnSpc>
                <a:spcPct val="100000"/>
              </a:lnSpc>
              <a:spcBef>
                <a:spcPts val="100"/>
              </a:spcBef>
            </a:pPr>
            <a:r>
              <a:rPr lang="en-US" sz="4400" b="0" spc="-204" dirty="0">
                <a:latin typeface="Trebuchet MS"/>
                <a:cs typeface="Trebuchet MS"/>
              </a:rPr>
              <a:t>Proposed Methodology</a:t>
            </a:r>
            <a:endParaRPr sz="4400" dirty="0">
              <a:latin typeface="Trebuchet MS"/>
              <a:cs typeface="Trebuchet MS"/>
            </a:endParaRPr>
          </a:p>
        </p:txBody>
      </p:sp>
      <p:sp>
        <p:nvSpPr>
          <p:cNvPr id="3" name="object 3">
            <a:extLst>
              <a:ext uri="{FF2B5EF4-FFF2-40B4-BE49-F238E27FC236}">
                <a16:creationId xmlns:a16="http://schemas.microsoft.com/office/drawing/2014/main" id="{2FDF5436-9716-A2E8-6EED-F2180FD7193A}"/>
              </a:ext>
            </a:extLst>
          </p:cNvPr>
          <p:cNvSpPr txBox="1"/>
          <p:nvPr/>
        </p:nvSpPr>
        <p:spPr>
          <a:xfrm>
            <a:off x="917460" y="1797430"/>
            <a:ext cx="10207740" cy="5277086"/>
          </a:xfrm>
          <a:prstGeom prst="rect">
            <a:avLst/>
          </a:prstGeom>
        </p:spPr>
        <p:txBody>
          <a:bodyPr vert="horz" wrap="square" lIns="0" tIns="13970" rIns="0" bIns="0" rtlCol="0">
            <a:spAutoFit/>
          </a:bodyPr>
          <a:lstStyle/>
          <a:p>
            <a:pPr marL="342900" indent="-342900">
              <a:buFont typeface="+mj-lt"/>
              <a:buAutoNum type="arabicPeriod"/>
            </a:pPr>
            <a:r>
              <a:rPr lang="en-US" b="1" dirty="0"/>
              <a:t>Data Collection</a:t>
            </a:r>
            <a:br>
              <a:rPr lang="en-US" dirty="0"/>
            </a:br>
            <a:r>
              <a:rPr lang="en-US" dirty="0"/>
              <a:t>Collect student study behavior data (study hours, consistency, attendance, break patterns) and interaction metrics (click rate, pause duration, task switching, session duration) using surveys and simulated learning logs.</a:t>
            </a:r>
          </a:p>
          <a:p>
            <a:pPr marL="342900" indent="-342900">
              <a:buFont typeface="+mj-lt"/>
              <a:buAutoNum type="arabicPeriod"/>
            </a:pPr>
            <a:endParaRPr lang="en-US" dirty="0"/>
          </a:p>
          <a:p>
            <a:pPr marL="342900" indent="-342900">
              <a:buFont typeface="+mj-lt"/>
              <a:buAutoNum type="arabicPeriod"/>
            </a:pPr>
            <a:r>
              <a:rPr lang="en-US" b="1" dirty="0"/>
              <a:t>Data Preprocessing</a:t>
            </a:r>
            <a:br>
              <a:rPr lang="en-US" dirty="0"/>
            </a:br>
            <a:r>
              <a:rPr lang="en-US" dirty="0"/>
              <a:t>Clean the collected data by handling missing values, normalizing features, and performing feature scaling to ensure accurate model training.</a:t>
            </a:r>
          </a:p>
          <a:p>
            <a:pPr marL="342900" indent="-342900">
              <a:buFont typeface="+mj-lt"/>
              <a:buAutoNum type="arabicPeriod"/>
            </a:pPr>
            <a:endParaRPr lang="en-US" dirty="0"/>
          </a:p>
          <a:p>
            <a:pPr marL="342900" indent="-342900">
              <a:buFont typeface="+mj-lt"/>
              <a:buAutoNum type="arabicPeriod"/>
            </a:pPr>
            <a:r>
              <a:rPr lang="en-US" b="1" dirty="0"/>
              <a:t>Feature Extraction &amp; Engineering</a:t>
            </a:r>
            <a:br>
              <a:rPr lang="en-US" dirty="0"/>
            </a:br>
            <a:r>
              <a:rPr lang="en-US" dirty="0"/>
              <a:t>Extract meaningful features related to:</a:t>
            </a:r>
          </a:p>
          <a:p>
            <a:pPr marL="285750" indent="-285750">
              <a:buFont typeface="Arial" panose="020B0604020202020204" pitchFamily="34" charset="0"/>
              <a:buChar char="•"/>
            </a:pPr>
            <a:r>
              <a:rPr lang="en-US" dirty="0"/>
              <a:t>Study </a:t>
            </a:r>
            <a:r>
              <a:rPr lang="en-US" dirty="0" err="1"/>
              <a:t>behaviour</a:t>
            </a:r>
            <a:endParaRPr lang="en-US" dirty="0"/>
          </a:p>
          <a:p>
            <a:pPr marL="285750" indent="-285750">
              <a:buFont typeface="Arial" panose="020B0604020202020204" pitchFamily="34" charset="0"/>
              <a:buChar char="•"/>
            </a:pPr>
            <a:r>
              <a:rPr lang="en-US" dirty="0"/>
              <a:t>Cognitive load indicators</a:t>
            </a:r>
          </a:p>
          <a:p>
            <a:pPr marL="285750" indent="-285750">
              <a:buFont typeface="Arial" panose="020B0604020202020204" pitchFamily="34" charset="0"/>
              <a:buChar char="•"/>
            </a:pPr>
            <a:r>
              <a:rPr lang="en-US" dirty="0"/>
              <a:t>Learning efficiency metrics</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a:p>
            <a:pPr marL="342900" indent="-342900">
              <a:buFont typeface="+mj-lt"/>
              <a:buAutoNum type="arabicPeriod"/>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704360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72C49AD-ADB5-D33A-BBA5-EFE6D93AC85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5860A01-ED3D-7CF1-29D5-34FA00D4DD3C}"/>
              </a:ext>
            </a:extLst>
          </p:cNvPr>
          <p:cNvSpPr txBox="1">
            <a:spLocks noGrp="1"/>
          </p:cNvSpPr>
          <p:nvPr>
            <p:ph type="ctrTitle"/>
          </p:nvPr>
        </p:nvSpPr>
        <p:spPr>
          <a:xfrm>
            <a:off x="917460" y="611962"/>
            <a:ext cx="5178540" cy="689932"/>
          </a:xfrm>
          <a:prstGeom prst="rect">
            <a:avLst/>
          </a:prstGeom>
        </p:spPr>
        <p:txBody>
          <a:bodyPr vert="horz" wrap="square" lIns="0" tIns="12700" rIns="0" bIns="0" rtlCol="0">
            <a:spAutoFit/>
          </a:bodyPr>
          <a:lstStyle/>
          <a:p>
            <a:pPr marL="12700">
              <a:lnSpc>
                <a:spcPct val="100000"/>
              </a:lnSpc>
              <a:spcBef>
                <a:spcPts val="100"/>
              </a:spcBef>
            </a:pPr>
            <a:r>
              <a:rPr lang="en-US" sz="4400" b="0" spc="-204" dirty="0">
                <a:latin typeface="Trebuchet MS"/>
                <a:cs typeface="Trebuchet MS"/>
              </a:rPr>
              <a:t>Proposed Methodology</a:t>
            </a:r>
            <a:endParaRPr sz="4400" dirty="0">
              <a:latin typeface="Trebuchet MS"/>
              <a:cs typeface="Trebuchet MS"/>
            </a:endParaRPr>
          </a:p>
        </p:txBody>
      </p:sp>
      <p:sp>
        <p:nvSpPr>
          <p:cNvPr id="3" name="object 3">
            <a:extLst>
              <a:ext uri="{FF2B5EF4-FFF2-40B4-BE49-F238E27FC236}">
                <a16:creationId xmlns:a16="http://schemas.microsoft.com/office/drawing/2014/main" id="{BB66CC75-D2B9-607B-1711-510F9026F38E}"/>
              </a:ext>
            </a:extLst>
          </p:cNvPr>
          <p:cNvSpPr txBox="1"/>
          <p:nvPr/>
        </p:nvSpPr>
        <p:spPr>
          <a:xfrm>
            <a:off x="917460" y="1797430"/>
            <a:ext cx="10207740" cy="4446089"/>
          </a:xfrm>
          <a:prstGeom prst="rect">
            <a:avLst/>
          </a:prstGeom>
        </p:spPr>
        <p:txBody>
          <a:bodyPr vert="horz" wrap="square" lIns="0" tIns="13970" rIns="0" bIns="0" rtlCol="0">
            <a:spAutoFit/>
          </a:bodyPr>
          <a:lstStyle/>
          <a:p>
            <a:pPr marL="342900" indent="-342900">
              <a:buFont typeface="+mj-lt"/>
              <a:buAutoNum type="arabicPeriod" startAt="4"/>
            </a:pPr>
            <a:r>
              <a:rPr lang="en-US" b="1" dirty="0"/>
              <a:t>Cognitive Load Estimation</a:t>
            </a:r>
            <a:br>
              <a:rPr lang="en-US" dirty="0"/>
            </a:br>
            <a:r>
              <a:rPr lang="en-US" dirty="0"/>
              <a:t>Apply Machine Learning classifiers such as </a:t>
            </a:r>
            <a:r>
              <a:rPr lang="en-US" b="1" dirty="0"/>
              <a:t>Random Forest and Support Vector Machine (SVM)</a:t>
            </a:r>
            <a:r>
              <a:rPr lang="en-US" dirty="0"/>
              <a:t> to estimate the cognitive load level of students (Low / Medium / High).</a:t>
            </a:r>
          </a:p>
          <a:p>
            <a:pPr marL="342900" indent="-342900">
              <a:buFont typeface="+mj-lt"/>
              <a:buAutoNum type="arabicPeriod" startAt="4"/>
            </a:pPr>
            <a:endParaRPr lang="en-US" dirty="0"/>
          </a:p>
          <a:p>
            <a:pPr marL="342900" indent="-342900">
              <a:buFont typeface="+mj-lt"/>
              <a:buAutoNum type="arabicPeriod" startAt="4"/>
            </a:pPr>
            <a:r>
              <a:rPr lang="en-US" b="1" dirty="0"/>
              <a:t>Academic Performance Prediction</a:t>
            </a:r>
            <a:br>
              <a:rPr lang="en-US" dirty="0"/>
            </a:br>
            <a:r>
              <a:rPr lang="en-US" dirty="0"/>
              <a:t>Use </a:t>
            </a:r>
            <a:r>
              <a:rPr lang="en-US" b="1" dirty="0"/>
              <a:t>Linear Regression</a:t>
            </a:r>
            <a:r>
              <a:rPr lang="en-US" dirty="0"/>
              <a:t> to predict academic performance based on study patterns and cognitive load parameters.</a:t>
            </a:r>
          </a:p>
          <a:p>
            <a:pPr marL="342900" indent="-342900">
              <a:buFont typeface="+mj-lt"/>
              <a:buAutoNum type="arabicPeriod" startAt="4"/>
            </a:pPr>
            <a:endParaRPr lang="en-US" dirty="0"/>
          </a:p>
          <a:p>
            <a:pPr marL="342900" indent="-342900">
              <a:buFont typeface="+mj-lt"/>
              <a:buAutoNum type="arabicPeriod" startAt="6"/>
            </a:pPr>
            <a:r>
              <a:rPr lang="en-US" b="1" dirty="0"/>
              <a:t>Correlation &amp; Analytical Modeling</a:t>
            </a:r>
            <a:br>
              <a:rPr lang="en-US" dirty="0"/>
            </a:br>
            <a:r>
              <a:rPr lang="en-US" dirty="0"/>
              <a:t>Analyze relationships between:</a:t>
            </a:r>
          </a:p>
          <a:p>
            <a:pPr marL="342900" indent="-342900">
              <a:buFont typeface="Arial" panose="020B0604020202020204" pitchFamily="34" charset="0"/>
              <a:buChar char="•"/>
            </a:pPr>
            <a:r>
              <a:rPr lang="en-US" dirty="0"/>
              <a:t>Study habits</a:t>
            </a:r>
          </a:p>
          <a:p>
            <a:pPr marL="342900" indent="-342900">
              <a:buFont typeface="Arial" panose="020B0604020202020204" pitchFamily="34" charset="0"/>
              <a:buChar char="•"/>
            </a:pPr>
            <a:r>
              <a:rPr lang="en-US" dirty="0"/>
              <a:t>Cognitive load</a:t>
            </a:r>
          </a:p>
          <a:p>
            <a:pPr marL="342900" indent="-342900">
              <a:buFont typeface="Arial" panose="020B0604020202020204" pitchFamily="34" charset="0"/>
              <a:buChar char="•"/>
            </a:pPr>
            <a:r>
              <a:rPr lang="en-US" dirty="0"/>
              <a:t>Academic performance</a:t>
            </a:r>
          </a:p>
          <a:p>
            <a:pPr marL="285750" indent="-285750">
              <a:buFont typeface="Arial" panose="020B0604020202020204" pitchFamily="34" charset="0"/>
              <a:buChar char="•"/>
            </a:pPr>
            <a:endParaRPr lang="en-US" dirty="0"/>
          </a:p>
          <a:p>
            <a:pPr marL="342900" indent="-342900">
              <a:buFont typeface="+mj-lt"/>
              <a:buAutoNum type="arabicPeriod"/>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67575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DBDBC2B-A7DA-F362-3C2B-E91407BD3AD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6DBEF29-C9C7-3B3B-C3E7-FD14AA6EDF82}"/>
              </a:ext>
            </a:extLst>
          </p:cNvPr>
          <p:cNvSpPr txBox="1">
            <a:spLocks noGrp="1"/>
          </p:cNvSpPr>
          <p:nvPr>
            <p:ph type="ctrTitle"/>
          </p:nvPr>
        </p:nvSpPr>
        <p:spPr>
          <a:xfrm>
            <a:off x="917460" y="611962"/>
            <a:ext cx="5178540" cy="689932"/>
          </a:xfrm>
          <a:prstGeom prst="rect">
            <a:avLst/>
          </a:prstGeom>
        </p:spPr>
        <p:txBody>
          <a:bodyPr vert="horz" wrap="square" lIns="0" tIns="12700" rIns="0" bIns="0" rtlCol="0">
            <a:spAutoFit/>
          </a:bodyPr>
          <a:lstStyle/>
          <a:p>
            <a:pPr marL="12700">
              <a:lnSpc>
                <a:spcPct val="100000"/>
              </a:lnSpc>
              <a:spcBef>
                <a:spcPts val="100"/>
              </a:spcBef>
            </a:pPr>
            <a:r>
              <a:rPr lang="en-US" sz="4400" b="0" spc="-204" dirty="0">
                <a:latin typeface="Trebuchet MS"/>
                <a:cs typeface="Trebuchet MS"/>
              </a:rPr>
              <a:t>Proposed Methodology</a:t>
            </a:r>
            <a:endParaRPr sz="4400" dirty="0">
              <a:latin typeface="Trebuchet MS"/>
              <a:cs typeface="Trebuchet MS"/>
            </a:endParaRPr>
          </a:p>
        </p:txBody>
      </p:sp>
      <p:sp>
        <p:nvSpPr>
          <p:cNvPr id="3" name="object 3">
            <a:extLst>
              <a:ext uri="{FF2B5EF4-FFF2-40B4-BE49-F238E27FC236}">
                <a16:creationId xmlns:a16="http://schemas.microsoft.com/office/drawing/2014/main" id="{A6C2D458-3E1E-4AFC-2D5A-D963AD7215FB}"/>
              </a:ext>
            </a:extLst>
          </p:cNvPr>
          <p:cNvSpPr txBox="1"/>
          <p:nvPr/>
        </p:nvSpPr>
        <p:spPr>
          <a:xfrm>
            <a:off x="917460" y="1797430"/>
            <a:ext cx="10207740" cy="3061094"/>
          </a:xfrm>
          <a:prstGeom prst="rect">
            <a:avLst/>
          </a:prstGeom>
        </p:spPr>
        <p:txBody>
          <a:bodyPr vert="horz" wrap="square" lIns="0" tIns="13970" rIns="0" bIns="0" rtlCol="0">
            <a:spAutoFit/>
          </a:bodyPr>
          <a:lstStyle/>
          <a:p>
            <a:pPr marL="342900" indent="-342900">
              <a:buFont typeface="+mj-lt"/>
              <a:buAutoNum type="arabicPeriod" startAt="7"/>
            </a:pPr>
            <a:r>
              <a:rPr lang="en-US" b="1" dirty="0"/>
              <a:t>Dashboard Visualization</a:t>
            </a:r>
            <a:br>
              <a:rPr lang="en-US" dirty="0"/>
            </a:br>
            <a:r>
              <a:rPr lang="en-US" dirty="0"/>
              <a:t>Display insights using interactive graphs and charts for better interpretation of learning patterns and mental workload.</a:t>
            </a:r>
          </a:p>
          <a:p>
            <a:pPr marL="342900" indent="-342900">
              <a:buFont typeface="+mj-lt"/>
              <a:buAutoNum type="arabicPeriod" startAt="7"/>
            </a:pPr>
            <a:endParaRPr lang="en-US" dirty="0"/>
          </a:p>
          <a:p>
            <a:pPr marL="342900" indent="-342900">
              <a:buFont typeface="+mj-lt"/>
              <a:buAutoNum type="arabicPeriod" startAt="7"/>
            </a:pPr>
            <a:endParaRPr lang="en-US" dirty="0"/>
          </a:p>
          <a:p>
            <a:pPr marL="342900" indent="-342900">
              <a:buFont typeface="+mj-lt"/>
              <a:buAutoNum type="arabicPeriod" startAt="8"/>
            </a:pPr>
            <a:r>
              <a:rPr lang="en-US" b="1" dirty="0"/>
              <a:t>Recommendation Generation</a:t>
            </a:r>
            <a:br>
              <a:rPr lang="en-US" dirty="0"/>
            </a:br>
            <a:r>
              <a:rPr lang="en-US" dirty="0"/>
              <a:t>Provide </a:t>
            </a:r>
            <a:r>
              <a:rPr lang="en-US" b="1" dirty="0"/>
              <a:t>intelligent personalized learning recommendations</a:t>
            </a:r>
            <a:r>
              <a:rPr lang="en-US" dirty="0"/>
              <a:t> to improve study efficiency and academic outcomes.</a:t>
            </a:r>
          </a:p>
          <a:p>
            <a:pPr marL="342900" indent="-342900">
              <a:buFont typeface="+mj-lt"/>
              <a:buAutoNum type="arabicPeriod" startAt="8"/>
            </a:pPr>
            <a:endParaRPr lang="en-US" dirty="0"/>
          </a:p>
          <a:p>
            <a:pPr marL="342900" indent="-342900">
              <a:buFont typeface="+mj-lt"/>
              <a:buAutoNum type="arabicPeriod" startAt="8"/>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57350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7460" y="2868625"/>
            <a:ext cx="2311400" cy="695960"/>
          </a:xfrm>
          <a:prstGeom prst="rect">
            <a:avLst/>
          </a:prstGeom>
        </p:spPr>
        <p:txBody>
          <a:bodyPr vert="horz" wrap="square" lIns="0" tIns="12700" rIns="0" bIns="0" rtlCol="0">
            <a:spAutoFit/>
          </a:bodyPr>
          <a:lstStyle/>
          <a:p>
            <a:pPr marL="12700">
              <a:lnSpc>
                <a:spcPct val="100000"/>
              </a:lnSpc>
              <a:spcBef>
                <a:spcPts val="100"/>
              </a:spcBef>
            </a:pPr>
            <a:r>
              <a:rPr sz="4400" b="0" spc="-250" dirty="0">
                <a:latin typeface="Trebuchet MS"/>
                <a:cs typeface="Trebuchet MS"/>
              </a:rPr>
              <a:t>Thank</a:t>
            </a:r>
            <a:r>
              <a:rPr sz="4400" b="0" spc="-470" dirty="0">
                <a:latin typeface="Trebuchet MS"/>
                <a:cs typeface="Trebuchet MS"/>
              </a:rPr>
              <a:t> </a:t>
            </a:r>
            <a:r>
              <a:rPr sz="4400" b="0" spc="-310" dirty="0">
                <a:latin typeface="Trebuchet MS"/>
                <a:cs typeface="Trebuchet MS"/>
              </a:rPr>
              <a:t>You</a:t>
            </a:r>
            <a:endParaRPr sz="440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8DF88616546FC488349BFE965343D76" ma:contentTypeVersion="5" ma:contentTypeDescription="Create a new document." ma:contentTypeScope="" ma:versionID="6840ed867b718a2819dea6dad55ce0c9">
  <xsd:schema xmlns:xsd="http://www.w3.org/2001/XMLSchema" xmlns:xs="http://www.w3.org/2001/XMLSchema" xmlns:p="http://schemas.microsoft.com/office/2006/metadata/properties" xmlns:ns3="e627777f-d9af-46d0-8eb5-83092a07f99e" targetNamespace="http://schemas.microsoft.com/office/2006/metadata/properties" ma:root="true" ma:fieldsID="966e31ba5f6f729579c692c89aa35ce0" ns3:_="">
    <xsd:import namespace="e627777f-d9af-46d0-8eb5-83092a07f99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27777f-d9af-46d0-8eb5-83092a07f99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285652-7117-44E0-BC74-6CF0DC08B99A}">
  <ds:schemaRefs>
    <ds:schemaRef ds:uri="e627777f-d9af-46d0-8eb5-83092a07f99e"/>
    <ds:schemaRef ds:uri="http://schemas.microsoft.com/office/2006/documentManagement/types"/>
    <ds:schemaRef ds:uri="http://schemas.openxmlformats.org/package/2006/metadata/core-properties"/>
    <ds:schemaRef ds:uri="http://schemas.microsoft.com/office/infopath/2007/PartnerControls"/>
    <ds:schemaRef ds:uri="http://purl.org/dc/elements/1.1/"/>
    <ds:schemaRef ds:uri="http://purl.org/dc/terms/"/>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5C62CD09-5941-435B-8F56-CBC1329A7F52}">
  <ds:schemaRefs>
    <ds:schemaRef ds:uri="http://schemas.microsoft.com/sharepoint/v3/contenttype/forms"/>
  </ds:schemaRefs>
</ds:datastoreItem>
</file>

<file path=customXml/itemProps3.xml><?xml version="1.0" encoding="utf-8"?>
<ds:datastoreItem xmlns:ds="http://schemas.openxmlformats.org/officeDocument/2006/customXml" ds:itemID="{19120415-6A6B-4BDE-90EE-19FDB79FBD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27777f-d9af-46d0-8eb5-83092a07f9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357</TotalTime>
  <Words>665</Words>
  <Application>Microsoft Office PowerPoint</Application>
  <PresentationFormat>Widescreen</PresentationFormat>
  <Paragraphs>69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Trebuchet MS</vt:lpstr>
      <vt:lpstr>Wingdings</vt:lpstr>
      <vt:lpstr>Office Theme</vt:lpstr>
      <vt:lpstr>School of Computer Science and Engineering Department of Computer Science and Engineering</vt:lpstr>
      <vt:lpstr>Outline</vt:lpstr>
      <vt:lpstr>Introduction</vt:lpstr>
      <vt:lpstr>PowerPoint Presentation</vt:lpstr>
      <vt:lpstr>PowerPoint Presentation</vt:lpstr>
      <vt:lpstr>Problem Statement</vt:lpstr>
      <vt:lpstr>Objectives</vt:lpstr>
      <vt:lpstr>Proposed Methodology</vt:lpstr>
      <vt:lpstr>Proposed Methodology</vt:lpstr>
      <vt:lpstr>Proposed Methodology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Kritika Mittal</dc:creator>
  <cp:lastModifiedBy>Kritika Mittal [CSE - 2024]</cp:lastModifiedBy>
  <cp:revision>3</cp:revision>
  <dcterms:created xsi:type="dcterms:W3CDTF">2026-02-06T18:07:28Z</dcterms:created>
  <dcterms:modified xsi:type="dcterms:W3CDTF">2026-02-19T05:22:37Z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2026-02-06T00:00:00Z</vt:filetime>
  </property>
  <property fmtid="{D5CDD505-2E9C-101B-9397-08002B2CF9AE}" pid="3" name="Creator">
    <vt:lpwstr>PDFium</vt:lpwstr>
  </property>
  <property fmtid="{D5CDD505-2E9C-101B-9397-08002B2CF9AE}" pid="4" name="Producer">
    <vt:lpwstr>PDFium</vt:lpwstr>
  </property>
  <property fmtid="{D5CDD505-2E9C-101B-9397-08002B2CF9AE}" pid="5" name="LastSaved">
    <vt:filetime>2026-02-06T00:00:00Z</vt:filetime>
  </property>
  <property fmtid="{D5CDD505-2E9C-101B-9397-08002B2CF9AE}" pid="6" name="ContentTypeId">
    <vt:lpwstr>0x01010058DF88616546FC488349BFE965343D76</vt:lpwstr>
  </property>
</Properties>
</file>